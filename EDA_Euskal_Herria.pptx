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6281"/>
  </p:normalViewPr>
  <p:slideViewPr>
    <p:cSldViewPr snapToGrid="0" snapToObjects="1">
      <p:cViewPr varScale="1">
        <p:scale>
          <a:sx n="162" d="100"/>
          <a:sy n="162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513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Climático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Euskal Herria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5420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 Meteorológicos · 1940–2025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99232"/>
            <a:ext cx="18288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63240"/>
            <a:ext cx="18288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556102"/>
            <a:ext cx="1828800" cy="3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datos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42032" y="2999232"/>
            <a:ext cx="1828800" cy="9601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3063240"/>
            <a:ext cx="18288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42032" y="3556102"/>
            <a:ext cx="1828800" cy="3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6864" y="2999232"/>
            <a:ext cx="1828800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ES" dirty="0"/>
          </a:p>
        </p:txBody>
      </p:sp>
      <p:sp>
        <p:nvSpPr>
          <p:cNvPr id="11" name="Text 9"/>
          <p:cNvSpPr/>
          <p:nvPr/>
        </p:nvSpPr>
        <p:spPr>
          <a:xfrm>
            <a:off x="4626864" y="3063240"/>
            <a:ext cx="18288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3556102"/>
            <a:ext cx="1828800" cy="3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11696" y="2999232"/>
            <a:ext cx="1828800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3063240"/>
            <a:ext cx="18288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11696" y="3556102"/>
            <a:ext cx="1828800" cy="3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ECMWF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9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Bilbo · Donostia · Gasteiz · Iruñea · Baiona · Arrasate · Maule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sostenido de temperaturas · Dos fases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calentamiento de la media desde 1980 · Fase 2: explosión de extremos desde 2015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5577840" cy="2377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987552"/>
            <a:ext cx="3063240" cy="11155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97880" y="2176272"/>
            <a:ext cx="1463040" cy="8046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97880" y="2240280"/>
            <a:ext cx="1463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+2,25°C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897880" y="2642982"/>
            <a:ext cx="1463040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máx.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452360" y="2176272"/>
            <a:ext cx="1463040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52360" y="2240280"/>
            <a:ext cx="1463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+2,25°C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452360" y="2642982"/>
            <a:ext cx="1463040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máx.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82880" y="3456432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2880" y="3456432"/>
            <a:ext cx="54864" cy="9875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0896" y="354787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1980–2014 · Calentamiento de la media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10896" y="382219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móvil sube sostenidamente. Los años fríos desaparecen. Anomalías positivas dominantes desde mediados de los 90.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26280" y="3456432"/>
            <a:ext cx="4251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26280" y="3456432"/>
            <a:ext cx="54864" cy="9875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54296" y="3547872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2015–2025 · Explosión de extremos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54296" y="382219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se empina. Máximos sin precedente en toda la serie: Maule +2,87°C · Iruñea +2,44°C · Gasteiz y Donostia +2,25°C.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Meteorología Euskal Herria 1940–2025 · ERA5 / Open-Meteo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media anual · Gasteiz y Donostia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lineal creciente confirmada en las dos ciudades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4343400" cy="2011680"/>
          </a:xfrm>
          <a:prstGeom prst="rect">
            <a:avLst/>
          </a:prstGeom>
        </p:spPr>
      </p:pic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73511"/>
            <a:ext cx="4343400" cy="18397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" y="301752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 · interior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617720" y="301752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 · costera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182880" y="3291840"/>
            <a:ext cx="2057400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3355848"/>
            <a:ext cx="20574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+0,16°C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182880" y="3795674"/>
            <a:ext cx="205740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década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423160" y="3291840"/>
            <a:ext cx="2057400" cy="8686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23160" y="3355848"/>
            <a:ext cx="20574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13,0°C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423160" y="3795674"/>
            <a:ext cx="205740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histórico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17720" y="3291840"/>
            <a:ext cx="205740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3355848"/>
            <a:ext cx="20574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+0,13°C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617720" y="3795674"/>
            <a:ext cx="205740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década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858000" y="3291840"/>
            <a:ext cx="2057400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58000" y="3355848"/>
            <a:ext cx="20574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15,6°C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858000" y="3795674"/>
            <a:ext cx="2057400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histórico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Meteorología Euskal Herria 1940–2025 · ERA5 / Open-Meteo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precipitaciones · Paradoja intensidad-racha seca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días de lluvia total · pero episodios más violentos y rachas secas más largas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4343400" cy="1920240"/>
          </a:xfrm>
          <a:prstGeom prst="rect">
            <a:avLst/>
          </a:prstGeom>
        </p:spPr>
      </p:pic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27791"/>
            <a:ext cx="4343400" cy="18397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" y="292608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 · precipitación total anual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17720" y="292608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 seca máxima anual por ciudad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320040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82880" y="3200400"/>
            <a:ext cx="54864" cy="16276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0896" y="329184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lluvia total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10896" y="3566160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Interior: media móvil desciende desde el pico de los 70. Gasteiz por debajo de 750 mm/año en la última década.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404872" y="320040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04872" y="3200400"/>
            <a:ext cx="54864" cy="16276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32888" y="329184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Episodios más intensos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532888" y="3566160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&gt;30 mm/día al alza desde 2015. La lluvia se concentra en menos eventos pero más violentos.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26864" y="320040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3200400"/>
            <a:ext cx="54864" cy="162763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329184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Rachas secas crecientes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754880" y="3566160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Iruñea: hasta 63 días sin lluvia en 1985. Gasteiz: rachas de 36 días. Variabilidad creciente en años recientes.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848856" y="320040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848856" y="3200400"/>
            <a:ext cx="54864" cy="16276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76872" y="329184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⚠️ Parcial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976872" y="3566160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reducción total es clara en el interior. Las costeras no muestran tendencia tan nítida.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Meteorología Euskal Herria 1940–2025 · ERA5 / Open-Meteo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climáticas · Costa vs Interior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jerárquico Ward · 10 variables estandarizadas · dos grupos estructurales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3931920" cy="23317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987552"/>
            <a:ext cx="4709160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3401568"/>
            <a:ext cx="41605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82880" y="3401568"/>
            <a:ext cx="54864" cy="14447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0896" y="34930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costero · Donostia · Bilbo · Baiona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10896" y="3767328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media alta (~14–15°C). Menor variabilidad extrema. Precipitación abundante. El mar amortigua los extremos térmicos.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26280" y="3401568"/>
            <a:ext cx="42519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26280" y="3401568"/>
            <a:ext cx="54864" cy="14447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54296" y="349300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interior · Gasteiz · Iruñea · Arrasate · Maule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54296" y="3767328"/>
            <a:ext cx="4069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amplitud térmica. Más días con Tmax &gt;35°C y rachas secas más largas. Sin amortiguación marina, el calentamiento golpea con más fuerza.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Meteorología Euskal Herria 1940–2025 · ERA5 / Open-Meteo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 extremas y olas de calor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&gt;35°C · olas ≥ 3 días consecutivos · prácticamente inexistentes antes de 1990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4251960" cy="166420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987552"/>
            <a:ext cx="4251960" cy="16642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" y="267919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 · Tmax &gt;35°C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17720" y="267919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 · Tmax &gt;35°C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2880360"/>
            <a:ext cx="6309360" cy="1463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629400" y="2880360"/>
            <a:ext cx="233172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29400" y="2944368"/>
            <a:ext cx="23317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días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6629400" y="3315249"/>
            <a:ext cx="2331720" cy="277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&gt;35°C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 2023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629400" y="3703320"/>
            <a:ext cx="2331720" cy="7498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29400" y="3767328"/>
            <a:ext cx="23317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días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629400" y="4138209"/>
            <a:ext cx="2331720" cy="277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&gt;35°C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 2023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629400" y="4526280"/>
            <a:ext cx="2331720" cy="6583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29400" y="4553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· 2022 · 2023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629400" y="4846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más extremos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Meteorología Euskal Herria 1940–2025 · ERA5 / Open-Meteo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· Veranos más largos y cálidos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anual por quinquenios · longitud del verano meteorológico · amplitud térmica estacional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4343400" cy="1783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987552"/>
            <a:ext cx="4343400" cy="1783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" y="27980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 · quinquenios 1940–2025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17720" y="27980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 · quinquenios 1940–2025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035808"/>
            <a:ext cx="5303520" cy="13716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35808"/>
            <a:ext cx="3337560" cy="13716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82880" y="4343400"/>
            <a:ext cx="2148840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82880" y="4407408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+1,1 d/déc</a:t>
            </a:r>
            <a:endParaRPr lang="en-US" sz="2600" dirty="0"/>
          </a:p>
        </p:txBody>
      </p:sp>
      <p:sp>
        <p:nvSpPr>
          <p:cNvPr id="14" name="Text 8"/>
          <p:cNvSpPr/>
          <p:nvPr/>
        </p:nvSpPr>
        <p:spPr>
          <a:xfrm>
            <a:off x="182880" y="4741164"/>
            <a:ext cx="2148840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verano más largo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Bilbo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2514600" y="4343400"/>
            <a:ext cx="21488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514600" y="4407408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+0,8 d/déc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2514600" y="4741164"/>
            <a:ext cx="2148840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verano más largo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846320" y="4343400"/>
            <a:ext cx="2148840" cy="685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846320" y="4407408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 d/déc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4846320" y="4741164"/>
            <a:ext cx="2148840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verano más largo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812280" y="4343400"/>
            <a:ext cx="1920240" cy="6858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812280" y="4407408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6812280" y="4741164"/>
            <a:ext cx="1920240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 estabilizada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(inviernos también suben)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32688"/>
            <a:ext cx="4224528" cy="1188720"/>
          </a:xfrm>
          <a:prstGeom prst="rect">
            <a:avLst/>
          </a:prstGeom>
          <a:solidFill>
            <a:srgbClr val="162636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14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H1 ✅ · Calentamiento en dos fases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sube desde 1980. Extremos explotan desde 2015. Gasteiz y Donostia +2,25°C de anomalía. Punto de inflexión claro.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6592" y="932688"/>
            <a:ext cx="4224528" cy="1188720"/>
          </a:xfrm>
          <a:prstGeom prst="rect">
            <a:avLst/>
          </a:prstGeom>
          <a:solidFill>
            <a:srgbClr val="162636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3752" y="1014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H2 ⚠️ · Precipitación paradójica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73752" y="13258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Interior: total anual a la baja desde los 70. Todas las ciudades: episodios intensos (+2015) y rachas secas crecientes.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4224528" cy="1188720"/>
          </a:xfrm>
          <a:prstGeom prst="rect">
            <a:avLst/>
          </a:prstGeom>
          <a:solidFill>
            <a:srgbClr val="162636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H3 ✅ · Dos climas, una frontera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Ward separa limpiamente costa e interior en 10 variables. Diferencia estructural y estable en toda la serie.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6592" y="2258568"/>
            <a:ext cx="4224528" cy="1188720"/>
          </a:xfrm>
          <a:prstGeom prst="rect">
            <a:avLst/>
          </a:prstGeom>
          <a:solidFill>
            <a:srgbClr val="162636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H4 ✅ · Extremos: fenómeno del siglo XXI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73752" y="26517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Gasteiz: 12 días &gt;35°C en 2023. Donostia: 5 días. Olas de calor inexistentes antes de 1990, recurrentes desde 2015.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224528" cy="1188720"/>
          </a:xfrm>
          <a:prstGeom prst="rect">
            <a:avLst/>
          </a:prstGeom>
          <a:solidFill>
            <a:srgbClr val="162636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66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H5 ⚠️ · Veranos más largos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9776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Verano meteorológico crece en todas las ciudades. Amplitud térmica sin tendencia clara: los inviernos también suben.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6592" y="3584448"/>
            <a:ext cx="4224528" cy="1188720"/>
          </a:xfrm>
          <a:prstGeom prst="rect">
            <a:avLst/>
          </a:prstGeom>
          <a:solidFill>
            <a:srgbClr val="162636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666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H6 ✅ · El mar como escudo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3752" y="39776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−0,91 a −0,94 estable en todas las décadas. Cada 10 km del mar → ~2 días extremos más. Estructura intacta.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Meteorología Euskal Herria 1940–2025 · ERA5 / Open-Meteo (ECMWF)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810</Words>
  <Application>Microsoft Macintosh PowerPoint</Application>
  <PresentationFormat>On-screen Show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Cambio Climático en Euskal Herria 1940–2025</dc:title>
  <dc:subject>PptxGenJS Presentation</dc:subject>
  <dc:creator>PptxGenJS</dc:creator>
  <cp:lastModifiedBy>Microsoft Office User</cp:lastModifiedBy>
  <cp:revision>5</cp:revision>
  <dcterms:created xsi:type="dcterms:W3CDTF">2026-05-14T18:13:04Z</dcterms:created>
  <dcterms:modified xsi:type="dcterms:W3CDTF">2026-05-15T09:47:47Z</dcterms:modified>
</cp:coreProperties>
</file>